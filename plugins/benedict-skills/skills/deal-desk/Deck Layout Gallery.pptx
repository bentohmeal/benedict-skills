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Yr 0</c:v>
                </c:pt>
                <c:pt idx="1">
                  <c:v>Yr 1</c:v>
                </c:pt>
                <c:pt idx="2">
                  <c:v>Yr 2</c:v>
                </c:pt>
                <c:pt idx="3">
                  <c:v>Yr 3</c:v>
                </c:pt>
                <c:pt idx="4">
                  <c:v>Yr 4</c:v>
                </c:pt>
                <c:pt idx="5">
                  <c:v>Yr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75.0</c:v>
                </c:pt>
                <c:pt idx="1">
                  <c:v>80.3</c:v>
                </c:pt>
                <c:pt idx="2">
                  <c:v>85.1</c:v>
                </c:pt>
                <c:pt idx="3">
                  <c:v>89.3</c:v>
                </c:pt>
                <c:pt idx="4">
                  <c:v>92.0</c:v>
                </c:pt>
                <c:pt idx="5">
                  <c:v>94.8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>
                <a:noFill/>
              </a:ln>
            </c:spPr>
          </c:dPt>
          <c:dPt>
            <c:idx val="1"/>
            <c:spPr>
              <a:solidFill>
                <a:srgbClr val="EDEDED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</c:v>
                </c:pt>
                <c:pt idx="1">
                  <c:v>0.06000000000000005</c:v>
                </c:pt>
              </c:numCache>
            </c:numRef>
          </c:val>
        </c:ser>
        <c:firstSliceAng val="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2F5597"/>
              </a:solidFill>
              <a:ln>
                <a:noFill/>
              </a:ln>
            </c:spPr>
          </c:dPt>
          <c:dPt>
            <c:idx val="1"/>
            <c:spPr>
              <a:solidFill>
                <a:srgbClr val="EDEDED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</c:v>
                </c:pt>
                <c:pt idx="1">
                  <c:v>0.28</c:v>
                </c:pt>
              </c:numCache>
            </c:numRef>
          </c:val>
        </c:ser>
        <c:firstSliceAng val="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5B7DB8"/>
              </a:solidFill>
              <a:ln>
                <a:noFill/>
              </a:ln>
            </c:spPr>
          </c:dPt>
          <c:dPt>
            <c:idx val="1"/>
            <c:spPr>
              <a:solidFill>
                <a:srgbClr val="EDEDED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</c:v>
                </c:pt>
                <c:pt idx="1">
                  <c:v>0.5700000000000001</c:v>
                </c:pt>
              </c:numCache>
            </c:numRef>
          </c:val>
        </c:ser>
        <c:firstSliceAng val="0"/>
        <c:holeSize val="72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chart" Target="../charts/chart1.xml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0"/>
            <a:ext cx="10515600" cy="100584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FFFFFF"/>
                </a:solidFill>
                <a:latin typeface="Arial"/>
              </a:rPr>
              <a:t>Deck layout gallery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3291840"/>
            <a:ext cx="1097280" cy="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11480" y="3429000"/>
            <a:ext cx="105156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9DB4D8"/>
                </a:solidFill>
                <a:latin typeface="Arial"/>
              </a:rPr>
              <a:t>Every ibdeck layout on one page each: pick favourites, avoid repeats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0">
                <a:solidFill>
                  <a:srgbClr val="9DB4D8"/>
                </a:solidFill>
                <a:latin typeface="Arial"/>
              </a:rPr>
              <a:t>deal-desk  · 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Icon stats, a stat strip, a headline number and a pictogram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3606698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stat_icons: icon, number, label</a:t>
            </a:r>
          </a:p>
        </p:txBody>
      </p:sp>
      <p:pic>
        <p:nvPicPr>
          <p:cNvPr id="8" name="Picture 7" descr="building-store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54" y="1664208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2157984"/>
            <a:ext cx="180334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04872"/>
            <a:ext cx="1711909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Studios across all 7 states and territories</a:t>
            </a:r>
          </a:p>
        </p:txBody>
      </p:sp>
      <p:pic>
        <p:nvPicPr>
          <p:cNvPr id="11" name="Picture 10" descr="cash_1F3864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903" y="1664208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14829" y="2157984"/>
            <a:ext cx="180334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$75.0m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0549" y="2404872"/>
            <a:ext cx="1711909" cy="1207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Year 0 revenue</a:t>
            </a:r>
          </a:p>
        </p:txBody>
      </p:sp>
      <p:pic>
        <p:nvPicPr>
          <p:cNvPr id="14" name="Picture 13" descr="chart-bar_1F3864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54" y="3630168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4123944"/>
            <a:ext cx="180334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$16.4m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1711909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Year 0 EBITDA (21.9% margin)</a:t>
            </a:r>
          </a:p>
        </p:txBody>
      </p:sp>
      <p:pic>
        <p:nvPicPr>
          <p:cNvPr id="17" name="Picture 16" descr="scale_1F3864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903" y="3630168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14829" y="4123944"/>
            <a:ext cx="180334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4.9x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0549" y="4370832"/>
            <a:ext cx="1711909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Asking price of $80.0m / Year 0 EBITDA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2498" y="1188720"/>
            <a:ext cx="3606698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stat_strip under a chart: revenue ($m)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292498" y="1554480"/>
          <a:ext cx="3606698" cy="28346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292498" y="4572000"/>
            <a:ext cx="1037640" cy="45262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2498" y="5041087"/>
            <a:ext cx="1037640" cy="353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Revenue CAGR, Yr 0–5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94731" y="4617720"/>
            <a:ext cx="0" cy="73152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659323" y="4572000"/>
            <a:ext cx="873048" cy="45262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$19.0m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9323" y="5041087"/>
            <a:ext cx="873048" cy="353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Year 5 EBITDA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96964" y="4617720"/>
            <a:ext cx="0" cy="73152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6861556" y="4572000"/>
            <a:ext cx="873048" cy="45262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20.0%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1556" y="5041087"/>
            <a:ext cx="873048" cy="353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Year 5 margin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3516" y="1188720"/>
            <a:ext cx="3606698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hero_number: the one number that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3516" y="2194560"/>
            <a:ext cx="1442679" cy="256032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18.5%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516" y="2468880"/>
            <a:ext cx="1442679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Equity IRR, 5-year hold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07636" y="1691640"/>
            <a:ext cx="0" cy="155448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9890516" y="1645920"/>
            <a:ext cx="1889699" cy="1645919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marL="146304" indent="-146304">
              <a:spcAft>
                <a:spcPts val="5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1">
                <a:solidFill>
                  <a:srgbClr val="000000"/>
                </a:solidFill>
                <a:latin typeface="Arial"/>
              </a:rPr>
              <a:t>2.1x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money multiple</a:t>
            </a:r>
          </a:p>
          <a:p>
            <a:pPr marL="146304" indent="-146304">
              <a:spcAft>
                <a:spcPts val="5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1">
                <a:solidFill>
                  <a:srgbClr val="000000"/>
                </a:solidFill>
                <a:latin typeface="Arial"/>
              </a:rPr>
              <a:t>4.9x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in, </a:t>
            </a:r>
            <a:r>
              <a:rPr sz="1000" i="0" b="1">
                <a:solidFill>
                  <a:srgbClr val="000000"/>
                </a:solidFill>
                <a:latin typeface="Arial"/>
              </a:rPr>
              <a:t>5.0x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out</a:t>
            </a:r>
          </a:p>
          <a:p>
            <a:pPr marL="146304" indent="-146304">
              <a:spcAft>
                <a:spcPts val="5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1">
                <a:solidFill>
                  <a:srgbClr val="000000"/>
                </a:solidFill>
                <a:latin typeface="Arial"/>
              </a:rPr>
              <a:t>0.9x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peak leverage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3516" y="3611880"/>
            <a:ext cx="3606698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pictogram: a share you can count</a:t>
            </a:r>
          </a:p>
        </p:txBody>
      </p:sp>
      <p:pic>
        <p:nvPicPr>
          <p:cNvPr id="36" name="Picture 35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5977" y="4113442"/>
            <a:ext cx="295749" cy="295749"/>
          </a:xfrm>
          <a:prstGeom prst="rect">
            <a:avLst/>
          </a:prstGeom>
        </p:spPr>
      </p:pic>
      <p:pic>
        <p:nvPicPr>
          <p:cNvPr id="37" name="Picture 36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6646" y="4113442"/>
            <a:ext cx="295749" cy="295749"/>
          </a:xfrm>
          <a:prstGeom prst="rect">
            <a:avLst/>
          </a:prstGeom>
        </p:spPr>
      </p:pic>
      <p:pic>
        <p:nvPicPr>
          <p:cNvPr id="38" name="Picture 37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7316" y="4113442"/>
            <a:ext cx="295749" cy="295749"/>
          </a:xfrm>
          <a:prstGeom prst="rect">
            <a:avLst/>
          </a:prstGeom>
        </p:spPr>
      </p:pic>
      <p:pic>
        <p:nvPicPr>
          <p:cNvPr id="39" name="Picture 38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7986" y="4113442"/>
            <a:ext cx="295749" cy="295749"/>
          </a:xfrm>
          <a:prstGeom prst="rect">
            <a:avLst/>
          </a:prstGeom>
        </p:spPr>
      </p:pic>
      <p:pic>
        <p:nvPicPr>
          <p:cNvPr id="40" name="Picture 39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8656" y="4113442"/>
            <a:ext cx="295749" cy="295749"/>
          </a:xfrm>
          <a:prstGeom prst="rect">
            <a:avLst/>
          </a:prstGeom>
        </p:spPr>
      </p:pic>
      <p:pic>
        <p:nvPicPr>
          <p:cNvPr id="41" name="Picture 40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9326" y="4113442"/>
            <a:ext cx="295749" cy="295749"/>
          </a:xfrm>
          <a:prstGeom prst="rect">
            <a:avLst/>
          </a:prstGeom>
        </p:spPr>
      </p:pic>
      <p:pic>
        <p:nvPicPr>
          <p:cNvPr id="42" name="Picture 41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996" y="4113442"/>
            <a:ext cx="295749" cy="295749"/>
          </a:xfrm>
          <a:prstGeom prst="rect">
            <a:avLst/>
          </a:prstGeom>
        </p:spPr>
      </p:pic>
      <p:pic>
        <p:nvPicPr>
          <p:cNvPr id="43" name="Picture 42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0665" y="4113442"/>
            <a:ext cx="295749" cy="295749"/>
          </a:xfrm>
          <a:prstGeom prst="rect">
            <a:avLst/>
          </a:prstGeom>
        </p:spPr>
      </p:pic>
      <p:pic>
        <p:nvPicPr>
          <p:cNvPr id="44" name="Picture 43" descr="person-filled_1F3864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1335" y="4113442"/>
            <a:ext cx="295749" cy="295749"/>
          </a:xfrm>
          <a:prstGeom prst="rect">
            <a:avLst/>
          </a:prstGeom>
        </p:spPr>
      </p:pic>
      <p:pic>
        <p:nvPicPr>
          <p:cNvPr id="45" name="Picture 44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52005" y="4113442"/>
            <a:ext cx="295749" cy="295749"/>
          </a:xfrm>
          <a:prstGeom prst="rect">
            <a:avLst/>
          </a:prstGeom>
        </p:spPr>
      </p:pic>
      <p:pic>
        <p:nvPicPr>
          <p:cNvPr id="46" name="Picture 45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5977" y="4497916"/>
            <a:ext cx="295749" cy="295749"/>
          </a:xfrm>
          <a:prstGeom prst="rect">
            <a:avLst/>
          </a:prstGeom>
        </p:spPr>
      </p:pic>
      <p:pic>
        <p:nvPicPr>
          <p:cNvPr id="47" name="Picture 46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6646" y="4497916"/>
            <a:ext cx="295749" cy="295749"/>
          </a:xfrm>
          <a:prstGeom prst="rect">
            <a:avLst/>
          </a:prstGeom>
        </p:spPr>
      </p:pic>
      <p:pic>
        <p:nvPicPr>
          <p:cNvPr id="48" name="Picture 47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7316" y="4497916"/>
            <a:ext cx="295749" cy="295749"/>
          </a:xfrm>
          <a:prstGeom prst="rect">
            <a:avLst/>
          </a:prstGeom>
        </p:spPr>
      </p:pic>
      <p:pic>
        <p:nvPicPr>
          <p:cNvPr id="49" name="Picture 48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7986" y="4497916"/>
            <a:ext cx="295749" cy="295749"/>
          </a:xfrm>
          <a:prstGeom prst="rect">
            <a:avLst/>
          </a:prstGeom>
        </p:spPr>
      </p:pic>
      <p:pic>
        <p:nvPicPr>
          <p:cNvPr id="50" name="Picture 49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8656" y="4497916"/>
            <a:ext cx="295749" cy="295749"/>
          </a:xfrm>
          <a:prstGeom prst="rect">
            <a:avLst/>
          </a:prstGeom>
        </p:spPr>
      </p:pic>
      <p:pic>
        <p:nvPicPr>
          <p:cNvPr id="51" name="Picture 50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9326" y="4497916"/>
            <a:ext cx="295749" cy="295749"/>
          </a:xfrm>
          <a:prstGeom prst="rect">
            <a:avLst/>
          </a:prstGeom>
        </p:spPr>
      </p:pic>
      <p:pic>
        <p:nvPicPr>
          <p:cNvPr id="52" name="Picture 51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996" y="4497916"/>
            <a:ext cx="295749" cy="295749"/>
          </a:xfrm>
          <a:prstGeom prst="rect">
            <a:avLst/>
          </a:prstGeom>
        </p:spPr>
      </p:pic>
      <p:pic>
        <p:nvPicPr>
          <p:cNvPr id="53" name="Picture 52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0665" y="4497916"/>
            <a:ext cx="295749" cy="295749"/>
          </a:xfrm>
          <a:prstGeom prst="rect">
            <a:avLst/>
          </a:prstGeom>
        </p:spPr>
      </p:pic>
      <p:pic>
        <p:nvPicPr>
          <p:cNvPr id="54" name="Picture 53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335" y="4497916"/>
            <a:ext cx="295749" cy="295749"/>
          </a:xfrm>
          <a:prstGeom prst="rect">
            <a:avLst/>
          </a:prstGeom>
        </p:spPr>
      </p:pic>
      <p:pic>
        <p:nvPicPr>
          <p:cNvPr id="55" name="Picture 54" descr="person-filled_BFBFBF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52005" y="4497916"/>
            <a:ext cx="295749" cy="29574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173516" y="4911180"/>
            <a:ext cx="3606698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43%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of studios (64 of 150) are in NSW and VIC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pack; deal-desk model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Rings for shares, nested circles for market size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283054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stat_rings: share of a whole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645920"/>
          <a:ext cx="1578138" cy="15781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2206389"/>
            <a:ext cx="157813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69778"/>
            <a:ext cx="1669578" cy="52498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Gross margin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263938" y="1645920"/>
          <a:ext cx="1578138" cy="15781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63938" y="2206389"/>
            <a:ext cx="157813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8218" y="3269778"/>
            <a:ext cx="1669578" cy="52498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Operating costs / revenue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024956" y="1645920"/>
          <a:ext cx="1578138" cy="157813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024956" y="2206389"/>
            <a:ext cx="157813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9236" y="3269778"/>
            <a:ext cx="1669578" cy="52498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Studios in NSW + VIC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69080"/>
            <a:ext cx="5283054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logo_row: peers, buyers or sponsors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Unity Gym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09074" y="4526280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Pumping Iron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6668" y="4526280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B08D3F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1">
                <a:solidFill>
                  <a:srgbClr val="1F3864"/>
                </a:solidFill>
                <a:latin typeface="Arial"/>
              </a:rPr>
              <a:t>Tough Love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198364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Squats &amp; Shakes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09074" y="5198364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Fit Mamas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6668" y="5198364"/>
            <a:ext cx="1687866" cy="5623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8854" y="1188720"/>
            <a:ext cx="581136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tam_sam_som: market sizing (illustrative)</a:t>
            </a:r>
          </a:p>
        </p:txBody>
      </p:sp>
      <p:sp>
        <p:nvSpPr>
          <p:cNvPr id="25" name="Oval 24"/>
          <p:cNvSpPr/>
          <p:nvPr/>
        </p:nvSpPr>
        <p:spPr>
          <a:xfrm>
            <a:off x="5968854" y="1691640"/>
            <a:ext cx="3017520" cy="3017520"/>
          </a:xfrm>
          <a:prstGeom prst="ellipse">
            <a:avLst/>
          </a:prstGeom>
          <a:solidFill>
            <a:srgbClr val="9D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8974" y="17830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TAM</a:t>
            </a:r>
          </a:p>
        </p:txBody>
      </p:sp>
      <p:sp>
        <p:nvSpPr>
          <p:cNvPr id="27" name="Oval 26"/>
          <p:cNvSpPr/>
          <p:nvPr/>
        </p:nvSpPr>
        <p:spPr>
          <a:xfrm>
            <a:off x="6451658" y="2657246"/>
            <a:ext cx="2051913" cy="2051913"/>
          </a:xfrm>
          <a:prstGeom prst="ellipse">
            <a:avLst/>
          </a:prstGeom>
          <a:solidFill>
            <a:srgbClr val="5B7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8974" y="2748686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29" name="Oval 28"/>
          <p:cNvSpPr/>
          <p:nvPr/>
        </p:nvSpPr>
        <p:spPr>
          <a:xfrm>
            <a:off x="6904286" y="3562502"/>
            <a:ext cx="1146657" cy="1146657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8974" y="3998671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44542" y="1920240"/>
            <a:ext cx="1188720" cy="0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9306414" y="1737360"/>
            <a:ext cx="2473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A$3.2bn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6414" y="2011680"/>
            <a:ext cx="247380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TAM: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Australian gym and fitness market (illustrative)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44542" y="2885846"/>
            <a:ext cx="1188720" cy="40234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306414" y="2743200"/>
            <a:ext cx="2473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A$1.1bn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6414" y="3017520"/>
            <a:ext cx="247380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SAM: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Budget and 24/7 studio segment (illustrative)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050943" y="3931920"/>
            <a:ext cx="1182319" cy="203911"/>
          </a:xfrm>
          <a:prstGeom prst="line">
            <a:avLst/>
          </a:prstGeom>
          <a:ln w="9525">
            <a:solidFill>
              <a:srgbClr val="BFBFBF"/>
            </a:solidFill>
            <a:prstDash val="sysDash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9306414" y="3749039"/>
            <a:ext cx="2473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i="0" b="1">
                <a:solidFill>
                  <a:srgbClr val="000000"/>
                </a:solidFill>
                <a:latin typeface="Arial"/>
              </a:rPr>
              <a:t>A$75m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6414" y="4023359"/>
            <a:ext cx="247380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SOM: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Tough Love revenue today, about 7% of SAM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68854" y="4937759"/>
            <a:ext cx="5811360" cy="6858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1F3864"/>
            </a:solidFill>
            <a:prstDash val="dash"/>
          </a:ln>
          <a:effectLst/>
        </p:spPr>
        <p:txBody>
          <a:bodyPr rtlCol="0" anchor="ctr" wrap="square" lIns="109728" rIns="109728" tIns="18288" bIns="18288"/>
          <a:lstStyle/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takeaway(): the 'so what' in a dashed outline. </a:t>
            </a:r>
            <a:r>
              <a:rPr sz="1000" i="0" b="1">
                <a:solidFill>
                  <a:srgbClr val="000000"/>
                </a:solidFill>
                <a:latin typeface="Arial"/>
              </a:rPr>
              <a:t>No pale box with a coloured side bar</a:t>
            </a:r>
            <a:r>
              <a:rPr sz="1000" i="0" b="0">
                <a:solidFill>
                  <a:srgbClr val="000000"/>
                </a:solidFill>
                <a:latin typeface="Arial"/>
              </a:rPr>
              <a:t>, which is the classic AI tell.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Labelled rows instead of a wall of bullets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5547207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side_tabs: investment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00200"/>
          <a:ext cx="5547207" cy="4343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3992727"/>
              </a:tblGrid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000" i="0" b="1">
                          <a:solidFill>
                            <a:srgbClr val="FFFFFF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304" indent="-146304">
                        <a:spcAft>
                          <a:spcPts val="200"/>
                        </a:spcAft>
                        <a:buClr>
                          <a:srgbClr val="1F3864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i="0" b="0">
                          <a:solidFill>
                            <a:srgbClr val="000000"/>
                          </a:solidFill>
                          <a:latin typeface="Arial"/>
                        </a:rPr>
                        <a:t>#3 Australian chain by outlets: 150 studios in all 7 states and territories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000" i="0" b="1">
                          <a:solidFill>
                            <a:srgbClr val="FFFFFF"/>
                          </a:solidFill>
                          <a:latin typeface="Arial"/>
                        </a:rPr>
                        <a:t>ECONOMICS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304" indent="-146304">
                        <a:spcAft>
                          <a:spcPts val="200"/>
                        </a:spcAft>
                        <a:buClr>
                          <a:srgbClr val="1F3864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i="0" b="0">
                          <a:solidFill>
                            <a:srgbClr val="000000"/>
                          </a:solidFill>
                          <a:latin typeface="Arial"/>
                        </a:rPr>
                        <a:t>94% gross margin; $16.4m EBITDA (21.9%) and $12.1m profit after tax in Year 0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000" i="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304" indent="-146304">
                        <a:spcAft>
                          <a:spcPts val="200"/>
                        </a:spcAft>
                        <a:buClr>
                          <a:srgbClr val="1F3864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i="0" b="0">
                          <a:solidFill>
                            <a:srgbClr val="000000"/>
                          </a:solidFill>
                          <a:latin typeface="Arial"/>
                        </a:rPr>
                        <a:t>18.5% IRR and 2.1x in 5 years at $80.0m, even after a Year 1 margin reset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000" i="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304" indent="-146304">
                        <a:spcAft>
                          <a:spcPts val="200"/>
                        </a:spcAft>
                        <a:buClr>
                          <a:srgbClr val="1F3864"/>
                        </a:buClr>
                        <a:buSzPct val="100000"/>
                        <a:buFont typeface="Arial"/>
                        <a:buChar char="•"/>
                      </a:pPr>
                      <a:r>
                        <a:rPr sz="1000" i="0" b="0">
                          <a:solidFill>
                            <a:srgbClr val="000000"/>
                          </a:solidFill>
                          <a:latin typeface="Arial"/>
                        </a:rPr>
                        <a:t>Operating costs step up from 72% to 77% of revenue in Year 1; diligence the drivers</a:t>
                      </a:r>
                    </a:p>
                  </a:txBody>
                  <a:tcPr anchor="ctr" marL="91440" marR="9144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33007" y="1188720"/>
            <a:ext cx="5547207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pill_rows: business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 wrap="square" lIns="73152" rIns="73152" tIns="18288" bIns="18288"/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Built from scratch</a:t>
            </a:r>
          </a:p>
          <a:p>
            <a:pPr algn="ctr"/>
            <a:r>
              <a:rPr sz="1200" i="0" b="0">
                <a:solidFill>
                  <a:srgbClr val="000000"/>
                </a:solidFill>
                <a:latin typeface="Arial"/>
              </a:rPr>
              <a:t>Founded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6127" y="1600200"/>
            <a:ext cx="3444087" cy="109728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Grown from 1 to 150 studios in about 10 years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Owner-operated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825496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 wrap="square" lIns="73152" rIns="73152" tIns="18288" bIns="18288"/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National footprint</a:t>
            </a:r>
          </a:p>
          <a:p>
            <a:pPr algn="ctr"/>
            <a:r>
              <a:rPr sz="1200" i="0" b="0">
                <a:solidFill>
                  <a:srgbClr val="000000"/>
                </a:solidFill>
                <a:latin typeface="Arial"/>
              </a:rPr>
              <a:t>7 of 7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127" y="2825496"/>
            <a:ext cx="3444087" cy="109728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NSW and VIC hold 43% of studios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Room to fill in WA, SA, TAS and 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050791"/>
            <a:ext cx="192024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 wrap="square" lIns="73152" rIns="73152" tIns="18288" bIns="18288"/>
          <a:lstStyle/>
          <a:p>
            <a:pPr algn="ctr"/>
            <a:r>
              <a:rPr sz="1200" i="0" b="1">
                <a:solidFill>
                  <a:srgbClr val="000000"/>
                </a:solidFill>
                <a:latin typeface="Arial"/>
              </a:rPr>
              <a:t>High margin</a:t>
            </a:r>
          </a:p>
          <a:p>
            <a:pPr algn="ctr"/>
            <a:r>
              <a:rPr sz="1200" i="0" b="0">
                <a:solidFill>
                  <a:srgbClr val="000000"/>
                </a:solidFill>
                <a:latin typeface="Arial"/>
              </a:rPr>
              <a:t>94% gross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27" y="4050791"/>
            <a:ext cx="3444087" cy="109728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Operating costs are the main expense (72% of revenue)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$12.1m profit after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pack; deal-desk model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Chevrons for the plan, a timeline for the history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68735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chevrons: value-creation plan (illustrative)</a:t>
            </a:r>
          </a:p>
        </p:txBody>
      </p:sp>
      <p:sp>
        <p:nvSpPr>
          <p:cNvPr id="8" name="Pentagon 7"/>
          <p:cNvSpPr/>
          <p:nvPr/>
        </p:nvSpPr>
        <p:spPr>
          <a:xfrm>
            <a:off x="411480" y="1600200"/>
            <a:ext cx="2924479" cy="502920"/>
          </a:xfrm>
          <a:prstGeom prst="homePlate">
            <a:avLst>
              <a:gd name="adj" fmla="val 35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Stabilise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2723311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Reset opex back to 72% of revenue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Renegotiate the top 20 leases</a:t>
            </a:r>
          </a:p>
        </p:txBody>
      </p:sp>
      <p:sp>
        <p:nvSpPr>
          <p:cNvPr id="10" name="Chevron 9"/>
          <p:cNvSpPr/>
          <p:nvPr/>
        </p:nvSpPr>
        <p:spPr>
          <a:xfrm>
            <a:off x="3226231" y="1600200"/>
            <a:ext cx="2924479" cy="502920"/>
          </a:xfrm>
          <a:prstGeom prst="chevron">
            <a:avLst>
              <a:gd name="adj" fmla="val 35000"/>
            </a:avLst>
          </a:prstGeom>
          <a:solidFill>
            <a:srgbClr val="2F5597"/>
          </a:solidFill>
          <a:ln>
            <a:noFill/>
          </a:ln>
          <a:effectLst/>
        </p:spPr>
        <p:txBody>
          <a:bodyPr rtlCol="0" anchor="ctr" wrap="square" lIns="228600" rIns="228600" tIns="18288" bIns="18288"/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Fill the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1951" y="2212848"/>
            <a:ext cx="2723311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Add studios in WA, SA and TAS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Target 190 studios by Year 5</a:t>
            </a:r>
          </a:p>
        </p:txBody>
      </p:sp>
      <p:sp>
        <p:nvSpPr>
          <p:cNvPr id="12" name="Chevron 11"/>
          <p:cNvSpPr/>
          <p:nvPr/>
        </p:nvSpPr>
        <p:spPr>
          <a:xfrm>
            <a:off x="6040983" y="1600200"/>
            <a:ext cx="2924479" cy="502920"/>
          </a:xfrm>
          <a:prstGeom prst="chevron">
            <a:avLst>
              <a:gd name="adj" fmla="val 35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 wrap="square" lIns="228600" rIns="228600" tIns="18288" bIns="18288"/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Lift yield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6703" y="2212848"/>
            <a:ext cx="2723311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Premium tier and PT packages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Price up 2–3% a year</a:t>
            </a:r>
          </a:p>
        </p:txBody>
      </p:sp>
      <p:sp>
        <p:nvSpPr>
          <p:cNvPr id="14" name="Chevron 13"/>
          <p:cNvSpPr/>
          <p:nvPr/>
        </p:nvSpPr>
        <p:spPr>
          <a:xfrm>
            <a:off x="8855735" y="1600200"/>
            <a:ext cx="2924479" cy="502920"/>
          </a:xfrm>
          <a:prstGeom prst="chevron">
            <a:avLst>
              <a:gd name="adj" fmla="val 35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 wrap="square" lIns="228600" rIns="228600" tIns="18288" bIns="18288"/>
          <a:lstStyle/>
          <a:p>
            <a:pPr algn="ctr"/>
            <a:r>
              <a:rPr sz="1000" i="0" b="1">
                <a:solidFill>
                  <a:srgbClr val="FFFFFF"/>
                </a:solidFill>
                <a:latin typeface="Arial"/>
              </a:rPr>
              <a:t>Exit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1455" y="2212848"/>
            <a:ext cx="2723311" cy="12618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Sell to a strategic or sponsor at 5.0x+</a:t>
            </a:r>
          </a:p>
          <a:p>
            <a:pPr marL="146304" indent="-146304">
              <a:spcAft>
                <a:spcPts val="300"/>
              </a:spcAft>
              <a:buClr>
                <a:srgbClr val="1F3864"/>
              </a:buClr>
              <a:buSzPct val="100000"/>
              <a:buFont typeface="Arial"/>
              <a:buChar char="•"/>
            </a:pPr>
            <a:r>
              <a:rPr sz="1000" i="0" b="0">
                <a:solidFill>
                  <a:srgbClr val="000000"/>
                </a:solidFill>
                <a:latin typeface="Arial"/>
              </a:rPr>
              <a:t>Year 5 EBITDA of $19.0m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03320"/>
            <a:ext cx="11368735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timeline: company history (illustrative dates)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4960620"/>
            <a:ext cx="11368735" cy="0"/>
          </a:xfrm>
          <a:prstGeom prst="line">
            <a:avLst/>
          </a:prstGeom>
          <a:ln w="22225">
            <a:solidFill>
              <a:srgbClr val="1F3864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1267434" y="48691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358874" y="4686300"/>
            <a:ext cx="0" cy="18288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11480" y="4114800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2015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First studio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Founded in Sydney</a:t>
            </a:r>
          </a:p>
        </p:txBody>
      </p:sp>
      <p:sp>
        <p:nvSpPr>
          <p:cNvPr id="21" name="Oval 20"/>
          <p:cNvSpPr/>
          <p:nvPr/>
        </p:nvSpPr>
        <p:spPr>
          <a:xfrm>
            <a:off x="3162223" y="48691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253663" y="5052059"/>
            <a:ext cx="0" cy="182881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2064943" y="5253228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2017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25 studios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Enters VIC and QLD</a:t>
            </a:r>
          </a:p>
        </p:txBody>
      </p:sp>
      <p:sp>
        <p:nvSpPr>
          <p:cNvPr id="24" name="Oval 23"/>
          <p:cNvSpPr/>
          <p:nvPr/>
        </p:nvSpPr>
        <p:spPr>
          <a:xfrm>
            <a:off x="5057013" y="48691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5148453" y="4686300"/>
            <a:ext cx="0" cy="18288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959733" y="4114800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2019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75 studios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National brand launch</a:t>
            </a:r>
          </a:p>
        </p:txBody>
      </p:sp>
      <p:sp>
        <p:nvSpPr>
          <p:cNvPr id="27" name="Oval 26"/>
          <p:cNvSpPr/>
          <p:nvPr/>
        </p:nvSpPr>
        <p:spPr>
          <a:xfrm>
            <a:off x="6951802" y="48691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043242" y="5052059"/>
            <a:ext cx="0" cy="182881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854522" y="5253228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2022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120 studios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All 7 states and territories</a:t>
            </a:r>
          </a:p>
        </p:txBody>
      </p:sp>
      <p:sp>
        <p:nvSpPr>
          <p:cNvPr id="30" name="Oval 29"/>
          <p:cNvSpPr/>
          <p:nvPr/>
        </p:nvSpPr>
        <p:spPr>
          <a:xfrm>
            <a:off x="8846591" y="48691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8938031" y="4686300"/>
            <a:ext cx="0" cy="18288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7749311" y="4114800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2025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150 studios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#3 chain by outlets</a:t>
            </a:r>
          </a:p>
        </p:txBody>
      </p:sp>
      <p:sp>
        <p:nvSpPr>
          <p:cNvPr id="33" name="Oval 32"/>
          <p:cNvSpPr/>
          <p:nvPr/>
        </p:nvSpPr>
        <p:spPr>
          <a:xfrm>
            <a:off x="10741380" y="4869180"/>
            <a:ext cx="182880" cy="182880"/>
          </a:xfrm>
          <a:prstGeom prst="ellipse">
            <a:avLst/>
          </a:prstGeom>
          <a:solidFill>
            <a:srgbClr val="B08D3F"/>
          </a:solidFill>
          <a:ln w="19050">
            <a:solidFill>
              <a:srgbClr val="B08D3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0832820" y="5052059"/>
            <a:ext cx="0" cy="182881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402775" y="5253228"/>
            <a:ext cx="2377440" cy="5715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Year 0</a:t>
            </a:r>
          </a:p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Sale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$80.0m asking 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Hub-and-spoke, numbered steps and Harvey balls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4161575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hub_spoke: growth drivers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92267" y="2125065"/>
            <a:ext cx="0" cy="1623974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2492267" y="3247204"/>
            <a:ext cx="989473" cy="501835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2492267" y="3749039"/>
            <a:ext cx="611528" cy="1313823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H="1">
            <a:off x="1880739" y="3749039"/>
            <a:ext cx="611528" cy="1313823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 flipV="1">
            <a:off x="1502794" y="3247204"/>
            <a:ext cx="989473" cy="501835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1806467" y="3063239"/>
            <a:ext cx="1371600" cy="13716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Tough Love</a:t>
            </a:r>
          </a:p>
        </p:txBody>
      </p:sp>
      <p:sp>
        <p:nvSpPr>
          <p:cNvPr id="14" name="Oval 13"/>
          <p:cNvSpPr/>
          <p:nvPr/>
        </p:nvSpPr>
        <p:spPr>
          <a:xfrm>
            <a:off x="2217947" y="1850745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pin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19" y="1969617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58027" y="1805025"/>
            <a:ext cx="1045071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New studios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Gaps in WA, SA, TAS</a:t>
            </a:r>
          </a:p>
        </p:txBody>
      </p:sp>
      <p:sp>
        <p:nvSpPr>
          <p:cNvPr id="17" name="Oval 16"/>
          <p:cNvSpPr/>
          <p:nvPr/>
        </p:nvSpPr>
        <p:spPr>
          <a:xfrm>
            <a:off x="3207420" y="29728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1F3864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92" y="3091756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7500" y="2927164"/>
            <a:ext cx="725554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Members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Retention and referrals</a:t>
            </a:r>
          </a:p>
        </p:txBody>
      </p:sp>
      <p:sp>
        <p:nvSpPr>
          <p:cNvPr id="20" name="Oval 19"/>
          <p:cNvSpPr/>
          <p:nvPr/>
        </p:nvSpPr>
        <p:spPr>
          <a:xfrm>
            <a:off x="2829475" y="478854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ash_1F3864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347" y="4907414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69555" y="4742822"/>
            <a:ext cx="1045071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Pricing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2–3% a year</a:t>
            </a:r>
          </a:p>
        </p:txBody>
      </p:sp>
      <p:sp>
        <p:nvSpPr>
          <p:cNvPr id="23" name="Oval 22"/>
          <p:cNvSpPr/>
          <p:nvPr/>
        </p:nvSpPr>
        <p:spPr>
          <a:xfrm>
            <a:off x="1606419" y="478854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barbell_1F3864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5291" y="4907414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908" y="4742822"/>
            <a:ext cx="1045071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Premium tier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PT and classes</a:t>
            </a:r>
          </a:p>
        </p:txBody>
      </p:sp>
      <p:sp>
        <p:nvSpPr>
          <p:cNvPr id="26" name="Oval 25"/>
          <p:cNvSpPr/>
          <p:nvPr/>
        </p:nvSpPr>
        <p:spPr>
          <a:xfrm>
            <a:off x="1228474" y="29728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building-store_1F3864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346" y="3091756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" y="2927164"/>
            <a:ext cx="725554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Tuck-ins</a:t>
            </a:r>
          </a:p>
          <a:p>
            <a:pPr algn="ctr"/>
            <a:r>
              <a:rPr sz="1000" i="0" b="0">
                <a:solidFill>
                  <a:srgbClr val="000000"/>
                </a:solidFill>
                <a:latin typeface="Arial"/>
              </a:rPr>
              <a:t>Buy small chains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7375" y="1188720"/>
            <a:ext cx="332926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numbered_steps: first 100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39399" y="1837944"/>
            <a:ext cx="0" cy="3438144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</p:cxnSp>
      <p:sp>
        <p:nvSpPr>
          <p:cNvPr id="31" name="Oval 30"/>
          <p:cNvSpPr/>
          <p:nvPr/>
        </p:nvSpPr>
        <p:spPr>
          <a:xfrm>
            <a:off x="4847375" y="16459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rIns="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6015" y="1627632"/>
            <a:ext cx="278062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Cost review</a:t>
            </a:r>
          </a:p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Find the drivers of the 5-point opex step-up</a:t>
            </a:r>
          </a:p>
        </p:txBody>
      </p:sp>
      <p:sp>
        <p:nvSpPr>
          <p:cNvPr id="33" name="Oval 32"/>
          <p:cNvSpPr/>
          <p:nvPr/>
        </p:nvSpPr>
        <p:spPr>
          <a:xfrm>
            <a:off x="4847375" y="250545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rIns="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6015" y="2487168"/>
            <a:ext cx="278062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Lease plan</a:t>
            </a:r>
          </a:p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Rank studios by rent / revenue</a:t>
            </a:r>
          </a:p>
        </p:txBody>
      </p:sp>
      <p:sp>
        <p:nvSpPr>
          <p:cNvPr id="35" name="Oval 34"/>
          <p:cNvSpPr/>
          <p:nvPr/>
        </p:nvSpPr>
        <p:spPr>
          <a:xfrm>
            <a:off x="4847375" y="33649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rIns="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6015" y="3346704"/>
            <a:ext cx="278062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Pricing test</a:t>
            </a:r>
          </a:p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Trial a premium tier in 10 studios</a:t>
            </a:r>
          </a:p>
        </p:txBody>
      </p:sp>
      <p:sp>
        <p:nvSpPr>
          <p:cNvPr id="37" name="Oval 36"/>
          <p:cNvSpPr/>
          <p:nvPr/>
        </p:nvSpPr>
        <p:spPr>
          <a:xfrm>
            <a:off x="4847375" y="422452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rIns="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6015" y="4206240"/>
            <a:ext cx="278062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Pipeline</a:t>
            </a:r>
          </a:p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Sign 8 new sites for Year 1</a:t>
            </a:r>
          </a:p>
        </p:txBody>
      </p:sp>
      <p:sp>
        <p:nvSpPr>
          <p:cNvPr id="39" name="Oval 38"/>
          <p:cNvSpPr/>
          <p:nvPr/>
        </p:nvSpPr>
        <p:spPr>
          <a:xfrm>
            <a:off x="4847375" y="5084064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rIns="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6015" y="5065776"/>
            <a:ext cx="278062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Reporting</a:t>
            </a:r>
          </a:p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Weekly studio KPIs to the 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0955" y="1188720"/>
            <a:ext cx="332926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harvey: peer scoring (illustrative)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03" y="1600200"/>
            <a:ext cx="732437" cy="36576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5340" y="1600200"/>
            <a:ext cx="732437" cy="36576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7777" y="1600200"/>
            <a:ext cx="732437" cy="365760"/>
          </a:xfrm>
          <a:prstGeom prst="rect">
            <a:avLst/>
          </a:prstGeom>
          <a:noFill/>
        </p:spPr>
        <p:txBody>
          <a:bodyPr wrap="square" lIns="18288" rIns="18288" tIns="18288" bIns="18288" anchor="b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Growth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50955" y="2011680"/>
            <a:ext cx="3329260" cy="0"/>
          </a:xfrm>
          <a:prstGeom prst="line">
            <a:avLst/>
          </a:prstGeom>
          <a:ln w="12700">
            <a:solidFill>
              <a:srgbClr val="1F3864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8450955" y="2057400"/>
            <a:ext cx="11319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Unity Gym</a:t>
            </a:r>
          </a:p>
        </p:txBody>
      </p:sp>
      <p:sp>
        <p:nvSpPr>
          <p:cNvPr id="47" name="Oval 46"/>
          <p:cNvSpPr/>
          <p:nvPr/>
        </p:nvSpPr>
        <p:spPr>
          <a:xfrm>
            <a:off x="9830250" y="21671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30250" y="2167128"/>
            <a:ext cx="237744" cy="23774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62687" y="21671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ie 49"/>
          <p:cNvSpPr/>
          <p:nvPr/>
        </p:nvSpPr>
        <p:spPr>
          <a:xfrm>
            <a:off x="10562687" y="216712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295124" y="21671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ie 51"/>
          <p:cNvSpPr/>
          <p:nvPr/>
        </p:nvSpPr>
        <p:spPr>
          <a:xfrm>
            <a:off x="11295124" y="2167128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450955" y="2514600"/>
            <a:ext cx="332926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8450955" y="2514600"/>
            <a:ext cx="11319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Pumping Iron</a:t>
            </a:r>
          </a:p>
        </p:txBody>
      </p:sp>
      <p:sp>
        <p:nvSpPr>
          <p:cNvPr id="55" name="Oval 54"/>
          <p:cNvSpPr/>
          <p:nvPr/>
        </p:nvSpPr>
        <p:spPr>
          <a:xfrm>
            <a:off x="9830250" y="26243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ie 55"/>
          <p:cNvSpPr/>
          <p:nvPr/>
        </p:nvSpPr>
        <p:spPr>
          <a:xfrm>
            <a:off x="9830250" y="262432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62687" y="26243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ie 57"/>
          <p:cNvSpPr/>
          <p:nvPr/>
        </p:nvSpPr>
        <p:spPr>
          <a:xfrm>
            <a:off x="10562687" y="262432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95124" y="26243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ie 59"/>
          <p:cNvSpPr/>
          <p:nvPr/>
        </p:nvSpPr>
        <p:spPr>
          <a:xfrm>
            <a:off x="11295124" y="262432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50955" y="2971800"/>
            <a:ext cx="332926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8450955" y="2971800"/>
            <a:ext cx="11319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Tough Love</a:t>
            </a:r>
          </a:p>
        </p:txBody>
      </p:sp>
      <p:sp>
        <p:nvSpPr>
          <p:cNvPr id="63" name="Oval 62"/>
          <p:cNvSpPr/>
          <p:nvPr/>
        </p:nvSpPr>
        <p:spPr>
          <a:xfrm>
            <a:off x="9830250" y="3081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ie 63"/>
          <p:cNvSpPr/>
          <p:nvPr/>
        </p:nvSpPr>
        <p:spPr>
          <a:xfrm>
            <a:off x="9830250" y="308152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62687" y="3081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562687" y="3081528"/>
            <a:ext cx="237744" cy="23774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95124" y="3081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ie 67"/>
          <p:cNvSpPr/>
          <p:nvPr/>
        </p:nvSpPr>
        <p:spPr>
          <a:xfrm>
            <a:off x="11295124" y="308152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450955" y="3429000"/>
            <a:ext cx="332926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8450955" y="3429000"/>
            <a:ext cx="11319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Squats &amp; Shakes</a:t>
            </a:r>
          </a:p>
        </p:txBody>
      </p:sp>
      <p:sp>
        <p:nvSpPr>
          <p:cNvPr id="71" name="Oval 70"/>
          <p:cNvSpPr/>
          <p:nvPr/>
        </p:nvSpPr>
        <p:spPr>
          <a:xfrm>
            <a:off x="9830250" y="35387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ie 71"/>
          <p:cNvSpPr/>
          <p:nvPr/>
        </p:nvSpPr>
        <p:spPr>
          <a:xfrm>
            <a:off x="9830250" y="3538728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562687" y="35387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ie 73"/>
          <p:cNvSpPr/>
          <p:nvPr/>
        </p:nvSpPr>
        <p:spPr>
          <a:xfrm>
            <a:off x="10562687" y="353872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295124" y="35387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295124" y="3538728"/>
            <a:ext cx="237744" cy="23774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450955" y="3886200"/>
            <a:ext cx="332926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8450955" y="3886200"/>
            <a:ext cx="113194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Fit Mamas</a:t>
            </a:r>
          </a:p>
        </p:txBody>
      </p:sp>
      <p:sp>
        <p:nvSpPr>
          <p:cNvPr id="79" name="Oval 78"/>
          <p:cNvSpPr/>
          <p:nvPr/>
        </p:nvSpPr>
        <p:spPr>
          <a:xfrm>
            <a:off x="9830250" y="39959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ie 79"/>
          <p:cNvSpPr/>
          <p:nvPr/>
        </p:nvSpPr>
        <p:spPr>
          <a:xfrm>
            <a:off x="9830250" y="3995928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62687" y="39959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ie 81"/>
          <p:cNvSpPr/>
          <p:nvPr/>
        </p:nvSpPr>
        <p:spPr>
          <a:xfrm>
            <a:off x="10562687" y="3995928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295124" y="39959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ie 83"/>
          <p:cNvSpPr/>
          <p:nvPr/>
        </p:nvSpPr>
        <p:spPr>
          <a:xfrm>
            <a:off x="11295124" y="3995928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8450955" y="4343400"/>
            <a:ext cx="3329260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384048"/>
          </a:xfrm>
          <a:prstGeom prst="rect">
            <a:avLst/>
          </a:prstGeom>
          <a:noFill/>
        </p:spPr>
        <p:txBody>
          <a:bodyPr wrap="none" lIns="18288" rIns="18288" tIns="18288" bIns="18288" anchor="b">
            <a:spAutoFit/>
          </a:bodyPr>
          <a:lstStyle/>
          <a:p>
            <a:pPr algn="l"/>
            <a:r>
              <a:rPr sz="2000" i="0" b="1">
                <a:solidFill>
                  <a:srgbClr val="1F3864"/>
                </a:solidFill>
                <a:latin typeface="Arial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i="0" b="0">
                <a:solidFill>
                  <a:srgbClr val="7F7F7F"/>
                </a:solidFill>
                <a:latin typeface="Arial"/>
              </a:rPr>
              <a:t>Risks beside their mitigants, then strengths and watch-points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19050">
            <a:solidFill>
              <a:srgbClr val="1F3864"/>
            </a:solidFill>
          </a:ln>
          <a:effectLst/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6455664"/>
          <a:ext cx="11368734" cy="274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4789"/>
                <a:gridCol w="1894789"/>
                <a:gridCol w="1894789"/>
                <a:gridCol w="1894789"/>
                <a:gridCol w="1894789"/>
                <a:gridCol w="1894789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Key Numbers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Markets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Thesis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Plans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 marL="36576" marR="36576" marT="18288" marB="18288" anchor="ctr">
                    <a:lnL w="19050">
                      <a:solidFill>
                        <a:srgbClr val="FFFFFF"/>
                      </a:solidFill>
                    </a:lnL>
                    <a:lnR w="19050">
                      <a:solidFill>
                        <a:srgbClr val="FFFFFF"/>
                      </a:solidFill>
                    </a:lnR>
                    <a:lnT w="19050">
                      <a:solidFill>
                        <a:srgbClr val="FFFFFF"/>
                      </a:solidFill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798503" y="6455664"/>
            <a:ext cx="2743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i="0" b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6270756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risk_matrix: risk, level and mitigant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65531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KEY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6918" y="1645920"/>
            <a:ext cx="265531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MITIGANT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4592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i="0" b="1">
                <a:solidFill>
                  <a:srgbClr val="000000"/>
                </a:solidFill>
                <a:latin typeface="Arial"/>
              </a:rPr>
              <a:t>LEVEL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901952"/>
            <a:ext cx="6270756" cy="0"/>
          </a:xfrm>
          <a:prstGeom prst="line">
            <a:avLst/>
          </a:prstGeom>
          <a:ln w="12700">
            <a:solidFill>
              <a:srgbClr val="1F3864"/>
            </a:solidFill>
          </a:ln>
          <a:effectLst/>
        </p:spPr>
      </p:cxnSp>
      <p:sp>
        <p:nvSpPr>
          <p:cNvPr id="12" name="Oval 11"/>
          <p:cNvSpPr/>
          <p:nvPr/>
        </p:nvSpPr>
        <p:spPr>
          <a:xfrm>
            <a:off x="544068" y="22585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4068" y="2258568"/>
            <a:ext cx="237744" cy="23774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Cost step-up: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opex rises from 72% to 77% of revenue in Year 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79446" y="2286000"/>
            <a:ext cx="237744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6918" y="196596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Diligence the drivers; price assumes the reset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2788920"/>
            <a:ext cx="6270756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544068" y="30815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544068" y="308152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Competition: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Unity Gym has 253 outlets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79446" y="3108960"/>
            <a:ext cx="237744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6918" y="278892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Lower price point; 24/7 access in every studio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3611879"/>
            <a:ext cx="6270756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24" name="Oval 23"/>
          <p:cNvSpPr/>
          <p:nvPr/>
        </p:nvSpPr>
        <p:spPr>
          <a:xfrm>
            <a:off x="544068" y="39044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544068" y="3904488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1188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Lease exposure: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rent is the largest fixed cost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79446" y="3931920"/>
            <a:ext cx="237744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6918" y="361188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Staggered expiries; review the top 20 leases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" y="4434840"/>
            <a:ext cx="6270756" cy="0"/>
          </a:xfrm>
          <a:prstGeom prst="line">
            <a:avLst/>
          </a:prstGeom>
          <a:ln w="9525">
            <a:solidFill>
              <a:srgbClr val="BFBFBF"/>
            </a:solidFill>
          </a:ln>
          <a:effectLst/>
        </p:spPr>
      </p:cxnSp>
      <p:sp>
        <p:nvSpPr>
          <p:cNvPr id="30" name="Oval 29"/>
          <p:cNvSpPr/>
          <p:nvPr/>
        </p:nvSpPr>
        <p:spPr>
          <a:xfrm>
            <a:off x="544068" y="472744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ie 30"/>
          <p:cNvSpPr/>
          <p:nvPr/>
        </p:nvSpPr>
        <p:spPr>
          <a:xfrm>
            <a:off x="544068" y="4727448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Key people: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founder-led since 2015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679446" y="4754880"/>
            <a:ext cx="237744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7D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6918" y="4434840"/>
            <a:ext cx="265531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i="0" b="0">
                <a:solidFill>
                  <a:srgbClr val="000000"/>
                </a:solidFill>
                <a:latin typeface="Arial"/>
              </a:rPr>
              <a:t>Management rollover and a 12-month transition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56556" y="1188720"/>
            <a:ext cx="2297529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Strengths</a:t>
            </a:r>
          </a:p>
        </p:txBody>
      </p:sp>
      <p:pic>
        <p:nvPicPr>
          <p:cNvPr id="36" name="Picture 35" descr="check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56" y="1618488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85740" y="160020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Scale: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#3 by outlets</a:t>
            </a:r>
          </a:p>
        </p:txBody>
      </p:sp>
      <p:pic>
        <p:nvPicPr>
          <p:cNvPr id="38" name="Picture 37" descr="check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56" y="2167128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85740" y="214884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Margin: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94% gross</a:t>
            </a:r>
          </a:p>
        </p:txBody>
      </p:sp>
      <p:pic>
        <p:nvPicPr>
          <p:cNvPr id="40" name="Picture 39" descr="check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56" y="2715768"/>
            <a:ext cx="237744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85740" y="269748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Cash: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profitable today</a:t>
            </a:r>
          </a:p>
        </p:txBody>
      </p:sp>
      <p:pic>
        <p:nvPicPr>
          <p:cNvPr id="42" name="Picture 41" descr="check_1F3864_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556" y="3264408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285740" y="324612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Leverage: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only 0.9x peak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82685" y="1188720"/>
            <a:ext cx="2297529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45720" rIns="45720" tIns="18288" bIns="18288"/>
          <a:lstStyle/>
          <a:p>
            <a:pPr algn="ctr"/>
            <a:r>
              <a:rPr sz="1200" i="0" b="1">
                <a:solidFill>
                  <a:srgbClr val="FFFFFF"/>
                </a:solidFill>
                <a:latin typeface="Arial"/>
              </a:rPr>
              <a:t>Watch-points</a:t>
            </a:r>
          </a:p>
        </p:txBody>
      </p:sp>
      <p:pic>
        <p:nvPicPr>
          <p:cNvPr id="45" name="Picture 44" descr="x_000000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85" y="1618488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11869" y="160020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Year 1 reset: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EBITDA dips to $12.8m</a:t>
            </a:r>
          </a:p>
        </p:txBody>
      </p:sp>
      <p:pic>
        <p:nvPicPr>
          <p:cNvPr id="47" name="Picture 46" descr="x_000000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85" y="2167128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811869" y="214884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Rent: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fixed-cost heavy</a:t>
            </a:r>
          </a:p>
        </p:txBody>
      </p:sp>
      <p:pic>
        <p:nvPicPr>
          <p:cNvPr id="49" name="Picture 48" descr="x_000000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685" y="2715768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811869" y="2697480"/>
            <a:ext cx="1968345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i="0" b="1">
                <a:solidFill>
                  <a:srgbClr val="000000"/>
                </a:solidFill>
                <a:latin typeface="Arial"/>
              </a:rPr>
              <a:t>Founder:</a:t>
            </a:r>
            <a:r>
              <a:rPr sz="1000" i="0" b="0">
                <a:solidFill>
                  <a:srgbClr val="000000"/>
                </a:solidFill>
                <a:latin typeface="Arial"/>
              </a:rPr>
              <a:t> key-person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035040"/>
            <a:ext cx="11368735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Sources: Keppel case pack; deal-desk model</a:t>
            </a:r>
          </a:p>
          <a:p>
            <a:pPr algn="l"/>
            <a:r>
              <a:rPr sz="800" i="1" b="0">
                <a:solidFill>
                  <a:srgbClr val="404040"/>
                </a:solidFill>
                <a:latin typeface="Arial"/>
              </a:rPr>
              <a:t>Notes: Layout samples on Tough Love case data; (illustrative) marks placeholder figures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